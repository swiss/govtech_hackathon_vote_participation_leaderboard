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548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92840" y="54864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3061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960120"/>
            <a:ext cx="4160520" cy="384048"/>
          </a:xfrm>
          <a:prstGeom prst="roundRect">
            <a:avLst>
              <a:gd name="adj" fmla="val 16667"/>
            </a:avLst>
          </a:prstGeom>
          <a:solidFill>
            <a:srgbClr val="E30613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8100000">
              <a:srgbClr val="0f172a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96012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HACKATHON PITCH · OPEN GOVERNMENT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spc="-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Democracy</a:t>
            </a:r>
            <a:pPr algn="l" indent="0" marL="0">
              <a:buNone/>
            </a:pPr>
            <a:r>
              <a:rPr lang="en-US" sz="8800" b="1" spc="-10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Race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Die Stimmbeteiligung der Schweizer Kantone seit 1848 — als sportlicher Wettbewerb erzählt.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961120" y="2331720"/>
            <a:ext cx="2331720" cy="2331720"/>
          </a:xfrm>
          <a:prstGeom prst="roundRect">
            <a:avLst>
              <a:gd name="adj" fmla="val 14000"/>
            </a:avLst>
          </a:prstGeom>
          <a:solidFill>
            <a:srgbClr val="E30613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76200" dir="8100000">
              <a:srgbClr val="0f172a">
                <a:alpha val="10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905467" y="2774747"/>
            <a:ext cx="443027" cy="14456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404147" y="3276067"/>
            <a:ext cx="1445666" cy="4430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7840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 heute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5468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26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35584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3212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1500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73328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50292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 · DER HOOK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Nur die Hälfte spielt mit.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840480" cy="2331720"/>
          </a:xfrm>
          <a:prstGeom prst="roundRect">
            <a:avLst>
              <a:gd name="adj" fmla="val 5098"/>
            </a:avLst>
          </a:prstGeom>
          <a:solidFill>
            <a:srgbClr val="FEE2E2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ABSTIMMUNGSBETEILIGUNG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~50%</a:t>
            </a:r>
            <a:endParaRPr lang="en-US" sz="84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der Stimmberechtigten gehen im Schnitt zur Urne (je nach Kanton).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846320" y="1965960"/>
            <a:ext cx="6675120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212848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8773" y="2360981"/>
            <a:ext cx="252374" cy="2523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806440" y="22128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Ein Team mit 5 von 11 Spieler*innen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138928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138928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42432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742432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45936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45936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949440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94944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552944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552944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56448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759952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363456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966960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0570464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11173968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5138928" y="382219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 heisst hier: nicht alle spielen mit.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640080" y="4572000"/>
            <a:ext cx="10881360" cy="1417320"/>
          </a:xfrm>
          <a:prstGeom prst="roundRect">
            <a:avLst>
              <a:gd name="adj" fmla="val 8387"/>
            </a:avLst>
          </a:prstGeom>
          <a:solidFill>
            <a:srgbClr val="EFF6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914400" y="4937760"/>
            <a:ext cx="713232" cy="7132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973" y="5130333"/>
            <a:ext cx="328087" cy="328087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828800" y="4572000"/>
            <a:ext cx="9418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Die Schweiz liebt Sport und Rankings. </a:t>
            </a:r>
            <a:pPr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2563E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Warum also nicht Demokratie als Wettbewerb?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688336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50292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 · HERAUSFORDERUNG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Von der offenen Frage zur Idee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67712"/>
            <a:ext cx="713232" cy="713232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693" y="2460285"/>
            <a:ext cx="328087" cy="3280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1272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Erste Ideen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374904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Abstimmungsvorlagen analysieren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Bundesratsdaten visualisieren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Politische Netzwerke &amp; Kommissionen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361688" y="1920240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81728" y="2267712"/>
            <a:ext cx="713232" cy="713232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301" y="2460285"/>
            <a:ext cx="328087" cy="3280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81728" y="31272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 Problem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81728" y="374904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Daten sind komplex und abstrakt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Wenig zugänglich für das Publikum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Kaum Bezug zum Alltag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83296" y="1920240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EFF6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03336" y="2267712"/>
            <a:ext cx="713232" cy="7132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909" y="2460285"/>
            <a:ext cx="328087" cy="3280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31272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Die Lösung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03336" y="3749040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Kantönligeist als Antrieb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Wettbewerb statt Tabelle</a:t>
            </a:r>
            <a:endParaRPr lang="en-US" sz="140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Sport-Storytelling für Motivation</a:t>
            </a:r>
            <a:endParaRPr lang="en-US" sz="14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7096" y="3881628"/>
            <a:ext cx="237744" cy="237744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8704" y="388162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212848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4572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 · DAS PRODUKT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Democracy-Ranking der Kantone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Eine interaktive Reise durch die Beteiligung von 1848 bis heute.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4983480" cy="4114800"/>
          </a:xfrm>
          <a:prstGeom prst="roundRect">
            <a:avLst>
              <a:gd name="adj" fmla="val 2889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57400"/>
            <a:ext cx="4983480" cy="65836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VISUALISIERUNGEN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603504" cy="603504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346" y="3089026"/>
            <a:ext cx="277612" cy="27761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91640" y="288950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Race Bar Chart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691640" y="323697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Live-Ranking der Kantone im Zeitraffer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46" y="4113154"/>
            <a:ext cx="277612" cy="2776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91640" y="391363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Line Plot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1691640" y="426110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Zeitverlauf der Beteiligung pro Kanton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914400" y="4974336"/>
            <a:ext cx="603504" cy="603504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346" y="5137282"/>
            <a:ext cx="277612" cy="2776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937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Rangverlauf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1691640" y="528523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Position einzelner Abstimmungen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852160" y="2057400"/>
            <a:ext cx="5669280" cy="4114800"/>
          </a:xfrm>
          <a:prstGeom prst="roundRect">
            <a:avLst>
              <a:gd name="adj" fmla="val 2889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52160" y="2057400"/>
            <a:ext cx="5669280" cy="65836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3" name="Text 18"/>
          <p:cNvSpPr/>
          <p:nvPr/>
        </p:nvSpPr>
        <p:spPr>
          <a:xfrm>
            <a:off x="6126480" y="20574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FEATURES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126480" y="2852928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4613" y="3001061"/>
            <a:ext cx="252374" cy="25237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126480" y="34930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Serious Mode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61264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Analyse &amp; Exploration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8869680" y="2852928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7813" y="3001061"/>
            <a:ext cx="252374" cy="25237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8869680" y="34930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 Mode</a:t>
            </a:r>
            <a:endParaRPr lang="en-US" sz="1550" dirty="0"/>
          </a:p>
        </p:txBody>
      </p:sp>
      <p:sp>
        <p:nvSpPr>
          <p:cNvPr id="31" name="Text 24"/>
          <p:cNvSpPr/>
          <p:nvPr/>
        </p:nvSpPr>
        <p:spPr>
          <a:xfrm>
            <a:off x="88696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Gamification &amp; Sportevent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126480" y="4370832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4613" y="4518965"/>
            <a:ext cx="252374" cy="25237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126480" y="50109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AI-Kommentator</a:t>
            </a:r>
            <a:endParaRPr lang="en-US" sz="1550" dirty="0"/>
          </a:p>
        </p:txBody>
      </p:sp>
      <p:sp>
        <p:nvSpPr>
          <p:cNvPr id="35" name="Text 27"/>
          <p:cNvSpPr/>
          <p:nvPr/>
        </p:nvSpPr>
        <p:spPr>
          <a:xfrm>
            <a:off x="6126480" y="5321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Text-to-Speech live</a:t>
            </a:r>
            <a:endParaRPr lang="en-US" sz="1200" dirty="0"/>
          </a:p>
        </p:txBody>
      </p:sp>
      <p:sp>
        <p:nvSpPr>
          <p:cNvPr id="36" name="Shape 28"/>
          <p:cNvSpPr/>
          <p:nvPr/>
        </p:nvSpPr>
        <p:spPr>
          <a:xfrm>
            <a:off x="8869680" y="4370832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7813" y="4518965"/>
            <a:ext cx="252374" cy="25237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8869680" y="50109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Kantonswappen</a:t>
            </a:r>
            <a:endParaRPr lang="en-US" sz="1550" dirty="0"/>
          </a:p>
        </p:txBody>
      </p:sp>
      <p:sp>
        <p:nvSpPr>
          <p:cNvPr id="39" name="Text 30"/>
          <p:cNvSpPr/>
          <p:nvPr/>
        </p:nvSpPr>
        <p:spPr>
          <a:xfrm>
            <a:off x="8869680" y="5321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Visuell integriert</a:t>
            </a:r>
            <a:endParaRPr lang="en-US" sz="1200" dirty="0"/>
          </a:p>
        </p:txBody>
      </p:sp>
      <p:sp>
        <p:nvSpPr>
          <p:cNvPr id="40" name="Shape 31"/>
          <p:cNvSpPr/>
          <p:nvPr/>
        </p:nvSpPr>
        <p:spPr>
          <a:xfrm>
            <a:off x="6126480" y="5687568"/>
            <a:ext cx="5120640" cy="365760"/>
          </a:xfrm>
          <a:prstGeom prst="roundRect">
            <a:avLst>
              <a:gd name="adj" fmla="val 15000"/>
            </a:avLst>
          </a:prstGeom>
          <a:solidFill>
            <a:srgbClr val="EFF6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126480" y="56875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★ Bundesrats-Heimatkantone hervorgehoben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CE7F3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50292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 · FUN MODE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Wenn Daten zum </a:t>
            </a:r>
            <a:pPr indent="0" marL="0">
              <a:buNone/>
            </a:pPr>
            <a:r>
              <a:rPr lang="en-US" sz="4000" b="1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Sportevent</a:t>
            </a:r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werden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766560" cy="41605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6766560" cy="7132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RACE CHART · LIVE-RANKING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97880" y="2121408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FCE7F3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97880" y="2121408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1937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9260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962656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/>
        </p:spPr>
      </p:sp>
      <p:sp>
        <p:nvSpPr>
          <p:cNvPr id="12" name="Text 10"/>
          <p:cNvSpPr/>
          <p:nvPr/>
        </p:nvSpPr>
        <p:spPr>
          <a:xfrm>
            <a:off x="1234440" y="2962656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874520" y="2944368"/>
            <a:ext cx="4297680" cy="438912"/>
          </a:xfrm>
          <a:prstGeom prst="roundRect">
            <a:avLst>
              <a:gd name="adj" fmla="val 10417"/>
            </a:avLst>
          </a:prstGeom>
          <a:solidFill>
            <a:srgbClr val="D4AF37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011680" y="294436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Basel-Stadt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263640" y="29443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99.8%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68680" y="352958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234440" y="3566160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35661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3547872"/>
            <a:ext cx="3977640" cy="438912"/>
          </a:xfrm>
          <a:prstGeom prst="roundRect">
            <a:avLst>
              <a:gd name="adj" fmla="val 10417"/>
            </a:avLst>
          </a:prstGeom>
          <a:solidFill>
            <a:srgbClr val="94A3B8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011680" y="3547872"/>
            <a:ext cx="3794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Schaffhausen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0" y="35478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92.4%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34440" y="4169664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1234440" y="4169664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74520" y="4151376"/>
            <a:ext cx="3621024" cy="438912"/>
          </a:xfrm>
          <a:prstGeom prst="roundRect">
            <a:avLst>
              <a:gd name="adj" fmla="val 10417"/>
            </a:avLst>
          </a:prstGeom>
          <a:solidFill>
            <a:srgbClr val="B45309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011680" y="4151376"/>
            <a:ext cx="3438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Aargau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586984" y="415137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84.1%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473659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234440" y="4773168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/>
        </p:spPr>
      </p:sp>
      <p:sp>
        <p:nvSpPr>
          <p:cNvPr id="30" name="Text 28"/>
          <p:cNvSpPr/>
          <p:nvPr/>
        </p:nvSpPr>
        <p:spPr>
          <a:xfrm>
            <a:off x="1234440" y="4773168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874520" y="4754880"/>
            <a:ext cx="3072384" cy="438912"/>
          </a:xfrm>
          <a:prstGeom prst="roundRect">
            <a:avLst>
              <a:gd name="adj" fmla="val 10417"/>
            </a:avLst>
          </a:prstGeom>
          <a:solidFill>
            <a:srgbClr val="2563EB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011680" y="4754880"/>
            <a:ext cx="2889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Bern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38344" y="47548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71.3%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534009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234440" y="5376672"/>
            <a:ext cx="566928" cy="402336"/>
          </a:xfrm>
          <a:prstGeom prst="roundRect">
            <a:avLst>
              <a:gd name="adj" fmla="val 11364"/>
            </a:avLst>
          </a:prstGeom>
          <a:solidFill>
            <a:srgbClr val="0F172A"/>
          </a:solidFill>
          <a:ln/>
        </p:spPr>
      </p:sp>
      <p:sp>
        <p:nvSpPr>
          <p:cNvPr id="36" name="Text 34"/>
          <p:cNvSpPr/>
          <p:nvPr/>
        </p:nvSpPr>
        <p:spPr>
          <a:xfrm>
            <a:off x="1234440" y="5376672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ZH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874520" y="5358384"/>
            <a:ext cx="2788920" cy="438912"/>
          </a:xfrm>
          <a:prstGeom prst="roundRect">
            <a:avLst>
              <a:gd name="adj" fmla="val 10417"/>
            </a:avLst>
          </a:prstGeom>
          <a:solidFill>
            <a:srgbClr val="CBD5E1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011680" y="535838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Zürich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754880" y="53583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64.7%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589520" y="1965960"/>
            <a:ext cx="3931920" cy="2514600"/>
          </a:xfrm>
          <a:prstGeom prst="roundRect">
            <a:avLst>
              <a:gd name="adj" fmla="val 4727"/>
            </a:avLst>
          </a:prstGeom>
          <a:solidFill>
            <a:srgbClr val="8B5CF6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863840" y="2240280"/>
            <a:ext cx="603504" cy="603504"/>
          </a:xfrm>
          <a:prstGeom prst="ellipse">
            <a:avLst/>
          </a:prstGeom>
          <a:solidFill>
            <a:srgbClr val="EC4899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6786" y="2403226"/>
            <a:ext cx="277612" cy="277612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8641080" y="224028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AI-Sportkommentator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7863840" y="306324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028432" y="31089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i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«Und Basel-Stadt zieht davon — 99.8 Prozent, das gab es noch nie!»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7589520" y="4663440"/>
            <a:ext cx="3931920" cy="1463040"/>
          </a:xfrm>
          <a:prstGeom prst="roundRect">
            <a:avLst>
              <a:gd name="adj" fmla="val 8125"/>
            </a:avLst>
          </a:prstGeom>
          <a:solidFill>
            <a:srgbClr val="FCE7F3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7863840" y="4846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DER EFFEKT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7863840" y="5166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emotional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·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8B5CF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verständlich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· 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unterhaltsam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502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 · TECHNIK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Wie es gebaut ist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258568"/>
            <a:ext cx="777240" cy="777240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695" y="2468423"/>
            <a:ext cx="357530" cy="3575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258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D3.js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2011680" y="274320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Interaktive Visualisierungen im Browser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2258568"/>
            <a:ext cx="777240" cy="7772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815" y="2468423"/>
            <a:ext cx="357530" cy="3575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43800" y="2258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SPARQL Queries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543800" y="274320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Abfragen über Linked Open Data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402336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005840" y="4407408"/>
            <a:ext cx="777240" cy="777240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695" y="4617263"/>
            <a:ext cx="357530" cy="3575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074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Government Data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2011680" y="4892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Quelle: Schweizer Bundeskanzlei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172200" y="402336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7960" y="4407408"/>
            <a:ext cx="777240" cy="7772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7815" y="4617263"/>
            <a:ext cx="357530" cy="35753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43800" y="44074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Text-to-Speech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7543800" y="4892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Kommentator-Stimme im Fun Mode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640080" y="6053328"/>
            <a:ext cx="10881360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/>
        </p:spPr>
      </p:sp>
      <p:sp>
        <p:nvSpPr>
          <p:cNvPr id="26" name="Text 20"/>
          <p:cNvSpPr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Entwicklung: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iterativ</a:t>
            </a:r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+  </a:t>
            </a:r>
            <a:pPr algn="ctr" indent="0" marL="0">
              <a:buNone/>
            </a:pPr>
            <a:r>
              <a:rPr lang="en-US" sz="1500" b="1" dirty="0">
                <a:solidFill>
                  <a:srgbClr val="D4AF3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«vibe coding»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640080" y="4572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 · INSIGHTS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Was die Daten verraten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657600" cy="4343400"/>
          </a:xfrm>
          <a:prstGeom prst="roundRect">
            <a:avLst>
              <a:gd name="adj" fmla="val 3250"/>
            </a:avLst>
          </a:prstGeom>
          <a:solidFill>
            <a:srgbClr val="FEE2E2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BASEL-STADT · 1937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99.8%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Bei der Freimaurer-Initiative 1937 war die Beteiligung landesweit extrem hoch — Basel-Stadt erreichte fast 100 Prozent.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53492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5349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Spitzenwert im ganzen Datensatz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26280" y="1783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00600" y="2075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671" y="2228759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486400" y="2075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Schaffhausen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18888" y="2770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Konstant zuoberst — eine Busse bei Nicht-Teilnahme treibt die Beteiligung bis heute.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092440" y="1783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66760" y="2075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831" y="2228759"/>
            <a:ext cx="260787" cy="260787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9052560" y="2075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Aargau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385048" y="2770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Bis in die 1970er an der Spitze, danach starker Rückgang.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526280" y="4069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00600" y="4361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671" y="4514759"/>
            <a:ext cx="260787" cy="26078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486400" y="4361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1980er-Jahre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4818888" y="5056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den meisten Kantonen nimmt die Beteiligung deutlich ab.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092440" y="4069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366760" y="4361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sx="100000" sy="100000" kx="0" ky="0" algn="bl" rotWithShape="0" blurRad="101600" dist="31750" dir="8100000">
              <a:srgbClr val="0f172a">
                <a:alpha val="100000"/>
              </a:srgbClr>
            </a:outerShdw>
          </a:effectLst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831" y="4514759"/>
            <a:ext cx="260787" cy="26078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052560" y="4361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Bundesrats-Effekt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8385048" y="5056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Heimatkantone markiert. Offene Forschungsfrage: Wirkt Repräsentation?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868680"/>
            <a:ext cx="1783080" cy="384048"/>
          </a:xfrm>
          <a:prstGeom prst="roundRect">
            <a:avLst>
              <a:gd name="adj" fmla="val 16667"/>
            </a:avLst>
          </a:prstGeom>
          <a:solidFill>
            <a:srgbClr val="E30613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50800" dir="8100000">
              <a:srgbClr val="0f172a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777240" y="8686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 · FAZIT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 als </a:t>
            </a:r>
            <a:pPr indent="0" marL="0">
              <a:buNone/>
            </a:pPr>
            <a:r>
              <a:rPr lang="en-US" sz="5400" b="1" spc="-50" kern="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Live-Erlebnis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108960" cy="2194560"/>
          </a:xfrm>
          <a:prstGeom prst="roundRect">
            <a:avLst>
              <a:gd name="adj" fmla="val 5417"/>
            </a:avLst>
          </a:prstGeom>
          <a:solidFill>
            <a:srgbClr val="1E293B"/>
          </a:solidFill>
          <a:ln w="31750">
            <a:solidFill>
              <a:srgbClr val="E30613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3063240"/>
            <a:ext cx="731520" cy="731520"/>
          </a:xfrm>
          <a:prstGeom prst="ellipse">
            <a:avLst/>
          </a:prstGeom>
          <a:solidFill>
            <a:srgbClr val="E30613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4790" y="3260750"/>
            <a:ext cx="336499" cy="33649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97280" y="4434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= Beteiligung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26280" y="2743200"/>
            <a:ext cx="3108960" cy="2194560"/>
          </a:xfrm>
          <a:prstGeom prst="roundRect">
            <a:avLst>
              <a:gd name="adj" fmla="val 5417"/>
            </a:avLst>
          </a:prstGeom>
          <a:solidFill>
            <a:srgbClr val="1E293B"/>
          </a:solidFill>
          <a:ln w="317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3063240"/>
            <a:ext cx="731520" cy="731520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830" y="3260750"/>
            <a:ext cx="336499" cy="33649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4632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Daten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846320" y="4434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= Verständnis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275320" y="2743200"/>
            <a:ext cx="3108960" cy="2194560"/>
          </a:xfrm>
          <a:prstGeom prst="roundRect">
            <a:avLst>
              <a:gd name="adj" fmla="val 5417"/>
            </a:avLst>
          </a:prstGeom>
          <a:solidFill>
            <a:srgbClr val="1E293B"/>
          </a:solidFill>
          <a:ln w="3175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95360" y="3063240"/>
            <a:ext cx="731520" cy="731520"/>
          </a:xfrm>
          <a:prstGeom prst="ellipse">
            <a:avLst/>
          </a:prstGeom>
          <a:solidFill>
            <a:srgbClr val="8B5CF6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2870" y="3260750"/>
            <a:ext cx="336499" cy="3364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Kantönligeist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8595360" y="4434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= Gamification Engine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777240" y="5349240"/>
            <a:ext cx="10607040" cy="868680"/>
          </a:xfrm>
          <a:prstGeom prst="roundRect">
            <a:avLst>
              <a:gd name="adj" fmla="val 12632"/>
            </a:avLst>
          </a:prstGeom>
          <a:solidFill>
            <a:srgbClr val="E30613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63500" dir="8100000">
              <a:srgbClr val="0f172a">
                <a:alpha val="100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77724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Data nicht nur sichtbar machen — sondern erlebbar.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Democracy Race — Hackathon Pitch</dc:title>
  <dc:subject>PptxGenJS Presentation</dc:subject>
  <dc:creator>Democracy Race Team</dc:creator>
  <cp:lastModifiedBy>Democracy Race Team</cp:lastModifiedBy>
  <cp:revision>1</cp:revision>
  <dcterms:created xsi:type="dcterms:W3CDTF">2026-05-29T12:04:20Z</dcterms:created>
  <dcterms:modified xsi:type="dcterms:W3CDTF">2026-05-29T12:04:20Z</dcterms:modified>
</cp:coreProperties>
</file>