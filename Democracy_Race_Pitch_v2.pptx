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12161838" cy="6858000"/>
  <p:notesSz cx="6858000" cy="121618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13" autoAdjust="0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5148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06D20-01DF-B781-D2C7-9F75707ED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72CC69-0371-2581-C009-5D909C5B3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4E4CE5-EA0F-77A7-2339-DF26E09DA2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EF72A-91B6-BB59-8FCD-9C12B5F69D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7817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77240" y="960120"/>
            <a:ext cx="4160520" cy="384048"/>
          </a:xfrm>
          <a:prstGeom prst="roundRect">
            <a:avLst>
              <a:gd name="adj" fmla="val 16667"/>
            </a:avLst>
          </a:prstGeom>
          <a:solidFill>
            <a:srgbClr val="E30613"/>
          </a:solidFill>
          <a:ln w="25400">
            <a:solidFill>
              <a:srgbClr val="FFFFFF"/>
            </a:solidFill>
            <a:prstDash val="solid"/>
          </a:ln>
          <a:effectLst>
            <a:outerShdw blurRad="101600" dist="5080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777240" y="96012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HACKATHON PITCH · OPEN GOVERNMENT DATA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0" b="1" kern="0" spc="-100" dirty="0" err="1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Demokratieliga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777240" y="36118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00" dirty="0" err="1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Meisterschaften</a:t>
            </a:r>
            <a:r>
              <a:rPr lang="en-US" sz="19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der </a:t>
            </a:r>
            <a:r>
              <a:rPr lang="en-US" sz="1900" dirty="0" err="1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Stimmbeteiligung</a:t>
            </a:r>
            <a:r>
              <a:rPr lang="en-US" sz="19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: die </a:t>
            </a:r>
            <a:r>
              <a:rPr lang="en-US" sz="1900" dirty="0" err="1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Kantone</a:t>
            </a:r>
            <a:r>
              <a:rPr lang="en-US" sz="19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  <a:r>
              <a:rPr lang="en-US" sz="1900" dirty="0" err="1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im</a:t>
            </a:r>
            <a:r>
              <a:rPr lang="en-US" sz="19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  <a:r>
              <a:rPr lang="en-US" sz="1900" dirty="0" err="1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Vergleich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961120" y="2331720"/>
            <a:ext cx="2331720" cy="2331720"/>
          </a:xfrm>
          <a:prstGeom prst="roundRect">
            <a:avLst>
              <a:gd name="adj" fmla="val 14000"/>
            </a:avLst>
          </a:prstGeom>
          <a:solidFill>
            <a:srgbClr val="E30613"/>
          </a:solidFill>
          <a:ln w="31750">
            <a:solidFill>
              <a:srgbClr val="0F172A"/>
            </a:solidFill>
            <a:prstDash val="solid"/>
          </a:ln>
          <a:effectLst>
            <a:outerShdw blurRad="101600" dist="7620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9" name="Shape 7"/>
          <p:cNvSpPr/>
          <p:nvPr/>
        </p:nvSpPr>
        <p:spPr>
          <a:xfrm>
            <a:off x="9905467" y="2774747"/>
            <a:ext cx="443027" cy="144566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0" name="Shape 8"/>
          <p:cNvSpPr/>
          <p:nvPr/>
        </p:nvSpPr>
        <p:spPr>
          <a:xfrm>
            <a:off x="9404147" y="3276067"/>
            <a:ext cx="1445666" cy="44302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1" name="Shape 9"/>
          <p:cNvSpPr/>
          <p:nvPr/>
        </p:nvSpPr>
        <p:spPr>
          <a:xfrm>
            <a:off x="777240" y="5212080"/>
            <a:ext cx="214884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960120" y="5349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1848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78408" y="5806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→ heute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154680" y="5212080"/>
            <a:ext cx="214884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3337560" y="5349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26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355848" y="5806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Kantone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532120" y="5212080"/>
            <a:ext cx="214884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5715000" y="5349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733288" y="5806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856232" cy="329184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1905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E306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 · DER HOOK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Nur die Hälfte spielt mit.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840480" cy="2331720"/>
          </a:xfrm>
          <a:prstGeom prst="roundRect">
            <a:avLst>
              <a:gd name="adj" fmla="val 5098"/>
            </a:avLst>
          </a:prstGeom>
          <a:solidFill>
            <a:srgbClr val="FEE2E2"/>
          </a:solidFill>
          <a:ln w="31750">
            <a:solidFill>
              <a:srgbClr val="0F172A"/>
            </a:solidFill>
            <a:prstDash val="solid"/>
          </a:ln>
          <a:effectLst>
            <a:outerShdw blurRad="101600" dist="6350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ABSTIMMUNGSBETEILIGUNG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E306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~50%</a:t>
            </a:r>
            <a:endParaRPr lang="en-US" sz="84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der Stimmberechtigten gehen im Schnitt zur Urne (je nach Kanton).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846319" y="1965960"/>
            <a:ext cx="7021215" cy="2331720"/>
          </a:xfrm>
          <a:prstGeom prst="roundRect">
            <a:avLst>
              <a:gd name="adj" fmla="val 5098"/>
            </a:avLst>
          </a:prstGeom>
          <a:solidFill>
            <a:srgbClr val="FFFFFF"/>
          </a:solidFill>
          <a:ln w="31750">
            <a:solidFill>
              <a:srgbClr val="0F172A"/>
            </a:solidFill>
            <a:prstDash val="solid"/>
          </a:ln>
          <a:effectLst>
            <a:outerShdw blurRad="101600" dist="6350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0" name="Shape 8"/>
          <p:cNvSpPr/>
          <p:nvPr/>
        </p:nvSpPr>
        <p:spPr>
          <a:xfrm>
            <a:off x="5120640" y="2212848"/>
            <a:ext cx="548640" cy="548640"/>
          </a:xfrm>
          <a:prstGeom prst="ellipse">
            <a:avLst/>
          </a:prstGeom>
          <a:solidFill>
            <a:srgbClr val="FEE2E2"/>
          </a:solidFill>
          <a:ln w="2540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8773" y="2360981"/>
            <a:ext cx="252374" cy="25237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806440" y="221284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Ein Team mit 5 von 11 </a:t>
            </a:r>
            <a:r>
              <a:rPr lang="en-US" sz="1900" b="1" dirty="0" err="1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Spieler:innen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5138928" y="3063240"/>
            <a:ext cx="566928" cy="566928"/>
          </a:xfrm>
          <a:prstGeom prst="ellipse">
            <a:avLst/>
          </a:prstGeom>
          <a:solidFill>
            <a:srgbClr val="E30613"/>
          </a:solidFill>
          <a:ln w="2794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4" name="Text 11"/>
          <p:cNvSpPr/>
          <p:nvPr/>
        </p:nvSpPr>
        <p:spPr>
          <a:xfrm>
            <a:off x="5138928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742432" y="3063240"/>
            <a:ext cx="566928" cy="566928"/>
          </a:xfrm>
          <a:prstGeom prst="ellipse">
            <a:avLst/>
          </a:prstGeom>
          <a:solidFill>
            <a:srgbClr val="E30613"/>
          </a:solidFill>
          <a:ln w="2794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6" name="Text 13"/>
          <p:cNvSpPr/>
          <p:nvPr/>
        </p:nvSpPr>
        <p:spPr>
          <a:xfrm>
            <a:off x="5742432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345936" y="3063240"/>
            <a:ext cx="566928" cy="566928"/>
          </a:xfrm>
          <a:prstGeom prst="ellipse">
            <a:avLst/>
          </a:prstGeom>
          <a:solidFill>
            <a:srgbClr val="E30613"/>
          </a:solidFill>
          <a:ln w="2794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8" name="Text 15"/>
          <p:cNvSpPr/>
          <p:nvPr/>
        </p:nvSpPr>
        <p:spPr>
          <a:xfrm>
            <a:off x="6345936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949440" y="3063240"/>
            <a:ext cx="566928" cy="566928"/>
          </a:xfrm>
          <a:prstGeom prst="ellipse">
            <a:avLst/>
          </a:prstGeom>
          <a:solidFill>
            <a:srgbClr val="E30613"/>
          </a:solidFill>
          <a:ln w="2794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0" name="Text 17"/>
          <p:cNvSpPr/>
          <p:nvPr/>
        </p:nvSpPr>
        <p:spPr>
          <a:xfrm>
            <a:off x="6949440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552944" y="3063240"/>
            <a:ext cx="566928" cy="566928"/>
          </a:xfrm>
          <a:prstGeom prst="ellipse">
            <a:avLst/>
          </a:prstGeom>
          <a:solidFill>
            <a:srgbClr val="E30613"/>
          </a:solidFill>
          <a:ln w="2794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2" name="Text 19"/>
          <p:cNvSpPr/>
          <p:nvPr/>
        </p:nvSpPr>
        <p:spPr>
          <a:xfrm>
            <a:off x="7552944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156448" y="3063240"/>
            <a:ext cx="566928" cy="566928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4" name="Shape 21"/>
          <p:cNvSpPr/>
          <p:nvPr/>
        </p:nvSpPr>
        <p:spPr>
          <a:xfrm>
            <a:off x="8759952" y="3063240"/>
            <a:ext cx="566928" cy="566928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5" name="Shape 22"/>
          <p:cNvSpPr/>
          <p:nvPr/>
        </p:nvSpPr>
        <p:spPr>
          <a:xfrm>
            <a:off x="9363456" y="3063240"/>
            <a:ext cx="566928" cy="566928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6" name="Shape 23"/>
          <p:cNvSpPr/>
          <p:nvPr/>
        </p:nvSpPr>
        <p:spPr>
          <a:xfrm>
            <a:off x="9966960" y="3063240"/>
            <a:ext cx="566928" cy="566928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7" name="Shape 24"/>
          <p:cNvSpPr/>
          <p:nvPr/>
        </p:nvSpPr>
        <p:spPr>
          <a:xfrm>
            <a:off x="10570464" y="3063240"/>
            <a:ext cx="566928" cy="566928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8" name="Shape 25"/>
          <p:cNvSpPr/>
          <p:nvPr/>
        </p:nvSpPr>
        <p:spPr>
          <a:xfrm>
            <a:off x="11173968" y="3063240"/>
            <a:ext cx="566928" cy="566928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9" name="Text 26"/>
          <p:cNvSpPr/>
          <p:nvPr/>
        </p:nvSpPr>
        <p:spPr>
          <a:xfrm>
            <a:off x="5138928" y="382219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Demokratie heisst hier: nicht alle spielen mit.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640080" y="4572000"/>
            <a:ext cx="11227454" cy="1417320"/>
          </a:xfrm>
          <a:prstGeom prst="roundRect">
            <a:avLst>
              <a:gd name="adj" fmla="val 8387"/>
            </a:avLst>
          </a:prstGeom>
          <a:solidFill>
            <a:srgbClr val="EFF6FF"/>
          </a:solidFill>
          <a:ln w="31750">
            <a:solidFill>
              <a:srgbClr val="0F172A"/>
            </a:solidFill>
            <a:prstDash val="solid"/>
          </a:ln>
          <a:effectLst>
            <a:outerShdw blurRad="101600" dist="6350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33" name="Text 29"/>
          <p:cNvSpPr/>
          <p:nvPr/>
        </p:nvSpPr>
        <p:spPr>
          <a:xfrm>
            <a:off x="822960" y="4572000"/>
            <a:ext cx="1091793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Die Schweiz liebt Sport und Rankings. </a:t>
            </a:r>
            <a:r>
              <a:rPr lang="en-US" sz="2100" b="1" dirty="0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Warum also nicht Demokratie </a:t>
            </a:r>
            <a:r>
              <a:rPr lang="en-US" sz="2100" b="1" dirty="0" err="1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als</a:t>
            </a:r>
            <a:r>
              <a:rPr lang="en-US" sz="2100" b="1" dirty="0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  <a:r>
              <a:rPr lang="en-US" sz="2100" b="1" dirty="0" err="1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Wettbewerb</a:t>
            </a:r>
            <a:r>
              <a:rPr lang="en-US" sz="2100" b="1" dirty="0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der </a:t>
            </a:r>
            <a:r>
              <a:rPr lang="en-US" sz="2100" b="1" dirty="0" err="1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Kantone</a:t>
            </a:r>
            <a:r>
              <a:rPr lang="en-US" sz="2100" b="1" dirty="0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?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688336" cy="329184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1905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E306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 · HERAUSFORDERUNG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172A"/>
                </a:solidFill>
                <a:latin typeface="Plus Jakarta Sans"/>
                <a:ea typeface="Plus Jakarta Sans" pitchFamily="34" charset="-122"/>
                <a:cs typeface="Plus Jakarta Sans" pitchFamily="34" charset="-120"/>
              </a:rPr>
              <a:t>Von der offenen Frage zur Idee</a:t>
            </a:r>
            <a:endParaRPr lang="en-US" sz="4000" dirty="0">
              <a:latin typeface="Plus Jakarta San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26364" y="1826404"/>
            <a:ext cx="3520440" cy="416052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31750">
            <a:solidFill>
              <a:srgbClr val="0F172A"/>
            </a:solidFill>
            <a:prstDash val="solid"/>
          </a:ln>
          <a:effectLst>
            <a:outerShdw blurRad="101600" dist="6350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8" name="Text 5"/>
          <p:cNvSpPr/>
          <p:nvPr/>
        </p:nvSpPr>
        <p:spPr>
          <a:xfrm>
            <a:off x="960120" y="2134463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Erste Ideen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960120" y="2874773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 err="1">
                <a:solidFill>
                  <a:srgbClr val="0F172A"/>
                </a:solidFill>
                <a:latin typeface="Plus Jakarta Sans"/>
                <a:ea typeface="Plus Jakarta Sans" pitchFamily="34" charset="-122"/>
                <a:cs typeface="Plus Jakarta Sans" pitchFamily="34" charset="-120"/>
              </a:rPr>
              <a:t>Abstimmungsvorlagen</a:t>
            </a:r>
            <a:r>
              <a:rPr lang="en-US" sz="2000" dirty="0">
                <a:solidFill>
                  <a:srgbClr val="0F172A"/>
                </a:solidFill>
                <a:latin typeface="Plus Jakarta Sans"/>
                <a:ea typeface="Plus Jakarta Sans" pitchFamily="34" charset="-122"/>
                <a:cs typeface="Plus Jakarta San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Plus Jakarta Sans"/>
                <a:ea typeface="Plus Jakarta Sans" pitchFamily="34" charset="-122"/>
                <a:cs typeface="Plus Jakarta Sans" pitchFamily="34" charset="-120"/>
              </a:rPr>
              <a:t>analysieren</a:t>
            </a:r>
            <a:endParaRPr lang="en-US" sz="2000" dirty="0">
              <a:latin typeface="Plus Jakarta Sans"/>
            </a:endParaRPr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 err="1">
                <a:solidFill>
                  <a:srgbClr val="0F172A"/>
                </a:solidFill>
                <a:latin typeface="Plus Jakarta Sans"/>
                <a:ea typeface="Plus Jakarta Sans" pitchFamily="34" charset="-122"/>
                <a:cs typeface="Plus Jakarta Sans" pitchFamily="34" charset="-120"/>
              </a:rPr>
              <a:t>Bundesratsdaten</a:t>
            </a:r>
            <a:r>
              <a:rPr lang="en-US" sz="2000" dirty="0">
                <a:solidFill>
                  <a:srgbClr val="0F172A"/>
                </a:solidFill>
                <a:latin typeface="Plus Jakarta Sans"/>
                <a:ea typeface="Plus Jakarta Sans" pitchFamily="34" charset="-122"/>
                <a:cs typeface="Plus Jakarta San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Plus Jakarta Sans"/>
                <a:ea typeface="Plus Jakarta Sans" pitchFamily="34" charset="-122"/>
                <a:cs typeface="Plus Jakarta Sans" pitchFamily="34" charset="-120"/>
              </a:rPr>
              <a:t>visualisieren</a:t>
            </a:r>
            <a:endParaRPr lang="en-US" sz="2000" dirty="0">
              <a:latin typeface="Plus Jakarta Sans"/>
            </a:endParaRPr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 err="1">
                <a:solidFill>
                  <a:srgbClr val="0F172A"/>
                </a:solidFill>
                <a:latin typeface="Plus Jakarta Sans"/>
                <a:ea typeface="Plus Jakarta Sans" pitchFamily="34" charset="-122"/>
                <a:cs typeface="Plus Jakarta Sans" pitchFamily="34" charset="-120"/>
              </a:rPr>
              <a:t>Politische</a:t>
            </a:r>
            <a:r>
              <a:rPr lang="en-US" sz="2000" dirty="0">
                <a:solidFill>
                  <a:srgbClr val="0F172A"/>
                </a:solidFill>
                <a:latin typeface="Plus Jakarta Sans"/>
                <a:ea typeface="Plus Jakarta Sans" pitchFamily="34" charset="-122"/>
                <a:cs typeface="Plus Jakarta San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Plus Jakarta Sans"/>
                <a:ea typeface="Plus Jakarta Sans" pitchFamily="34" charset="-122"/>
                <a:cs typeface="Plus Jakarta Sans" pitchFamily="34" charset="-120"/>
              </a:rPr>
              <a:t>Netzwerke</a:t>
            </a:r>
            <a:r>
              <a:rPr lang="en-US" sz="2000" dirty="0">
                <a:solidFill>
                  <a:srgbClr val="0F172A"/>
                </a:solidFill>
                <a:latin typeface="Plus Jakarta Sans"/>
                <a:ea typeface="Plus Jakarta Sans" pitchFamily="34" charset="-122"/>
                <a:cs typeface="Plus Jakarta Sans" pitchFamily="34" charset="-120"/>
              </a:rPr>
              <a:t> &amp; </a:t>
            </a:r>
            <a:r>
              <a:rPr lang="en-US" sz="2000" dirty="0" err="1">
                <a:solidFill>
                  <a:srgbClr val="0F172A"/>
                </a:solidFill>
                <a:latin typeface="Plus Jakarta Sans"/>
                <a:ea typeface="Plus Jakarta Sans" pitchFamily="34" charset="-122"/>
                <a:cs typeface="Plus Jakarta Sans" pitchFamily="34" charset="-120"/>
              </a:rPr>
              <a:t>Kommissionen</a:t>
            </a:r>
            <a:endParaRPr lang="en-US" sz="2000" dirty="0">
              <a:latin typeface="Plus Jakarta San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361688" y="1826404"/>
            <a:ext cx="3520440" cy="416052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31750">
            <a:solidFill>
              <a:srgbClr val="0F172A"/>
            </a:solidFill>
            <a:prstDash val="solid"/>
          </a:ln>
          <a:effectLst>
            <a:outerShdw blurRad="101600" dist="6350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 dirty="0"/>
          </a:p>
        </p:txBody>
      </p:sp>
      <p:sp>
        <p:nvSpPr>
          <p:cNvPr id="13" name="Text 9"/>
          <p:cNvSpPr/>
          <p:nvPr/>
        </p:nvSpPr>
        <p:spPr>
          <a:xfrm>
            <a:off x="4681728" y="2134463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306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Das Problem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4681728" y="2874773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FontTx/>
              <a:buChar char="•"/>
            </a:pPr>
            <a:r>
              <a:rPr lang="en-US" sz="2000" dirty="0" err="1">
                <a:solidFill>
                  <a:srgbClr val="0F172A"/>
                </a:solidFill>
                <a:latin typeface="Plus Jakarta Sans"/>
                <a:ea typeface="Plus Jakarta Sans"/>
              </a:rPr>
              <a:t>Tiefe</a:t>
            </a:r>
            <a:r>
              <a:rPr lang="en-US" sz="2000" dirty="0">
                <a:solidFill>
                  <a:srgbClr val="0F172A"/>
                </a:solidFill>
                <a:latin typeface="Plus Jakarta Sans"/>
                <a:ea typeface="Plus Jakarta Sans"/>
              </a:rPr>
              <a:t> und </a:t>
            </a:r>
            <a:r>
              <a:rPr lang="en-US" sz="2000" dirty="0" err="1">
                <a:solidFill>
                  <a:srgbClr val="0F172A"/>
                </a:solidFill>
                <a:latin typeface="Plus Jakarta Sans"/>
                <a:ea typeface="Plus Jakarta Sans"/>
              </a:rPr>
              <a:t>sinkende</a:t>
            </a:r>
            <a:r>
              <a:rPr lang="en-US" sz="2000">
                <a:solidFill>
                  <a:srgbClr val="0F172A"/>
                </a:solidFill>
                <a:latin typeface="Plus Jakarta Sans"/>
                <a:ea typeface="Plus Jakarta Sans"/>
              </a:rPr>
              <a:t> Stimmbeteiligung</a:t>
            </a:r>
            <a:endParaRPr lang="en-US" sz="2000" dirty="0">
              <a:solidFill>
                <a:srgbClr val="0F172A"/>
              </a:solidFill>
              <a:latin typeface="Plus Jakarta Sans"/>
              <a:ea typeface="Plus Jakarta Sans"/>
            </a:endParaRPr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 err="1">
                <a:solidFill>
                  <a:srgbClr val="0F172A"/>
                </a:solidFill>
                <a:latin typeface="Plus Jakarta Sans"/>
                <a:ea typeface="Plus Jakarta Sans"/>
              </a:rPr>
              <a:t>Daten</a:t>
            </a:r>
            <a:r>
              <a:rPr lang="en-US" sz="2000" dirty="0">
                <a:solidFill>
                  <a:srgbClr val="0F172A"/>
                </a:solidFill>
                <a:latin typeface="Plus Jakarta Sans"/>
                <a:ea typeface="Plus Jakarta Sans"/>
              </a:rPr>
              <a:t> sind komplex und </a:t>
            </a:r>
            <a:r>
              <a:rPr lang="en-US" sz="2000" dirty="0" err="1">
                <a:solidFill>
                  <a:srgbClr val="0F172A"/>
                </a:solidFill>
                <a:latin typeface="Plus Jakarta Sans"/>
                <a:ea typeface="Plus Jakarta Sans"/>
              </a:rPr>
              <a:t>abstrakt</a:t>
            </a:r>
            <a:endParaRPr lang="en-US" sz="2000" dirty="0">
              <a:solidFill>
                <a:srgbClr val="0F172A"/>
              </a:solidFill>
              <a:latin typeface="Plus Jakarta Sans"/>
              <a:ea typeface="Plus Jakarta Sans"/>
            </a:endParaRPr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 err="1">
                <a:solidFill>
                  <a:srgbClr val="0F172A"/>
                </a:solidFill>
                <a:latin typeface="Plus Jakarta Sans"/>
                <a:ea typeface="Plus Jakarta Sans"/>
              </a:rPr>
              <a:t>Schwierig</a:t>
            </a:r>
            <a:r>
              <a:rPr lang="en-US" sz="2000" dirty="0">
                <a:solidFill>
                  <a:srgbClr val="0F172A"/>
                </a:solidFill>
                <a:latin typeface="Plus Jakarta Sans"/>
                <a:ea typeface="Plus Jakarta Sans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Plus Jakarta Sans"/>
                <a:ea typeface="Plus Jakarta Sans"/>
              </a:rPr>
              <a:t>zugänglich</a:t>
            </a:r>
            <a:endParaRPr lang="en-US" sz="2000" dirty="0">
              <a:solidFill>
                <a:srgbClr val="0F172A"/>
              </a:solidFill>
              <a:latin typeface="Plus Jakarta Sans"/>
              <a:ea typeface="Plus Jakarta Sans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8083296" y="1826404"/>
            <a:ext cx="3520440" cy="4160520"/>
          </a:xfrm>
          <a:prstGeom prst="roundRect">
            <a:avLst>
              <a:gd name="adj" fmla="val 3377"/>
            </a:avLst>
          </a:prstGeom>
          <a:solidFill>
            <a:srgbClr val="EFF6FF"/>
          </a:solidFill>
          <a:ln w="31750">
            <a:solidFill>
              <a:srgbClr val="0F172A"/>
            </a:solidFill>
            <a:prstDash val="solid"/>
          </a:ln>
          <a:effectLst>
            <a:outerShdw blurRad="101600" dist="6350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8" name="Text 13"/>
          <p:cNvSpPr/>
          <p:nvPr/>
        </p:nvSpPr>
        <p:spPr>
          <a:xfrm>
            <a:off x="8403336" y="2134463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Unser </a:t>
            </a:r>
            <a:r>
              <a:rPr lang="en-US" sz="2100" b="1" dirty="0" err="1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Lösungsansatz</a:t>
            </a:r>
            <a:endParaRPr lang="en-US" sz="2100" dirty="0"/>
          </a:p>
        </p:txBody>
      </p:sp>
      <p:sp>
        <p:nvSpPr>
          <p:cNvPr id="19" name="Text 14"/>
          <p:cNvSpPr/>
          <p:nvPr/>
        </p:nvSpPr>
        <p:spPr>
          <a:xfrm>
            <a:off x="8403336" y="2874773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Plus Jakarta Sans"/>
                <a:ea typeface="Plus Jakarta Sans" pitchFamily="34" charset="-122"/>
              </a:rPr>
              <a:t>Kantönligeist </a:t>
            </a:r>
            <a:r>
              <a:rPr lang="en-US" sz="2000" dirty="0" err="1">
                <a:solidFill>
                  <a:srgbClr val="0F172A"/>
                </a:solidFill>
                <a:latin typeface="Plus Jakarta Sans"/>
                <a:ea typeface="Plus Jakarta Sans" pitchFamily="34" charset="-122"/>
              </a:rPr>
              <a:t>als</a:t>
            </a:r>
            <a:r>
              <a:rPr lang="en-US" sz="2000" dirty="0">
                <a:solidFill>
                  <a:srgbClr val="0F172A"/>
                </a:solidFill>
                <a:latin typeface="Plus Jakarta Sans"/>
                <a:ea typeface="Plus Jakarta Sans" pitchFamily="34" charset="-122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Plus Jakarta Sans"/>
                <a:ea typeface="Plus Jakarta Sans" pitchFamily="34" charset="-122"/>
              </a:rPr>
              <a:t>Antrieb</a:t>
            </a:r>
            <a:endParaRPr lang="en-US" sz="2000" dirty="0">
              <a:solidFill>
                <a:srgbClr val="0F172A"/>
              </a:solidFill>
              <a:latin typeface="Plus Jakarta Sans"/>
              <a:ea typeface="Plus Jakarta Sans" pitchFamily="34" charset="-122"/>
            </a:endParaRPr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Plus Jakarta Sans"/>
                <a:ea typeface="Plus Jakarta Sans" pitchFamily="34" charset="-122"/>
              </a:rPr>
              <a:t>Wettbewerb </a:t>
            </a:r>
            <a:r>
              <a:rPr lang="en-US" sz="2000" dirty="0" err="1">
                <a:solidFill>
                  <a:srgbClr val="0F172A"/>
                </a:solidFill>
                <a:latin typeface="Plus Jakarta Sans"/>
                <a:ea typeface="Plus Jakarta Sans" pitchFamily="34" charset="-122"/>
              </a:rPr>
              <a:t>statt</a:t>
            </a:r>
            <a:r>
              <a:rPr lang="en-US" sz="2000" dirty="0">
                <a:solidFill>
                  <a:srgbClr val="0F172A"/>
                </a:solidFill>
                <a:latin typeface="Plus Jakarta Sans"/>
                <a:ea typeface="Plus Jakarta Sans" pitchFamily="34" charset="-122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Plus Jakarta Sans"/>
                <a:ea typeface="Plus Jakarta Sans" pitchFamily="34" charset="-122"/>
              </a:rPr>
              <a:t>Tabelle</a:t>
            </a:r>
            <a:endParaRPr lang="en-US" sz="2000" dirty="0">
              <a:solidFill>
                <a:srgbClr val="0F172A"/>
              </a:solidFill>
              <a:latin typeface="Plus Jakarta Sans"/>
              <a:ea typeface="Plus Jakarta Sans" pitchFamily="34" charset="-122"/>
            </a:endParaRPr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Plus Jakarta Sans"/>
                <a:ea typeface="Plus Jakarta Sans" pitchFamily="34" charset="-122"/>
              </a:rPr>
              <a:t>Sport-Storytelling </a:t>
            </a:r>
            <a:r>
              <a:rPr lang="en-US" sz="2000" dirty="0" err="1">
                <a:solidFill>
                  <a:srgbClr val="0F172A"/>
                </a:solidFill>
                <a:latin typeface="Plus Jakarta Sans"/>
                <a:ea typeface="Plus Jakarta Sans" pitchFamily="34" charset="-122"/>
              </a:rPr>
              <a:t>als</a:t>
            </a:r>
            <a:r>
              <a:rPr lang="en-US" sz="2000" dirty="0">
                <a:solidFill>
                  <a:srgbClr val="0F172A"/>
                </a:solidFill>
                <a:latin typeface="Plus Jakarta Sans"/>
                <a:ea typeface="Plus Jakarta Sans" pitchFamily="34" charset="-122"/>
              </a:rPr>
              <a:t> Motivator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212848" cy="329184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1905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E306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 · DAS PRODUKT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84124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Demokratie</a:t>
            </a:r>
            <a:r>
              <a:rPr lang="en-US" sz="36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-Ranking der Kantone</a:t>
            </a:r>
            <a:endParaRPr lang="en-US" sz="3600" dirty="0"/>
          </a:p>
        </p:txBody>
      </p:sp>
      <p:pic>
        <p:nvPicPr>
          <p:cNvPr id="45" name="Grafik 44">
            <a:extLst>
              <a:ext uri="{FF2B5EF4-FFF2-40B4-BE49-F238E27FC236}">
                <a16:creationId xmlns:a16="http://schemas.microsoft.com/office/drawing/2014/main" id="{B7EB1382-02D9-DDF4-5C82-EDA797347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3287" y="1591095"/>
            <a:ext cx="7225842" cy="44256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AAAD0-AAB1-6EB2-D902-64894BB88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14F36A9-1C6D-97CA-AC4B-920B5A67E635}"/>
              </a:ext>
            </a:extLst>
          </p:cNvPr>
          <p:cNvSpPr/>
          <p:nvPr/>
        </p:nvSpPr>
        <p:spPr>
          <a:xfrm>
            <a:off x="640080" y="457200"/>
            <a:ext cx="2212848" cy="329184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1905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ED85662-EFA8-5C57-66EF-98085EC2D57A}"/>
              </a:ext>
            </a:extLst>
          </p:cNvPr>
          <p:cNvSpPr/>
          <p:nvPr/>
        </p:nvSpPr>
        <p:spPr>
          <a:xfrm>
            <a:off x="640080" y="45720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E306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 · DAS PRODUKT</a:t>
            </a:r>
            <a:endParaRPr lang="en-US" sz="10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13F4BB9-F12B-24F4-00AE-95675E6F2BCD}"/>
              </a:ext>
            </a:extLst>
          </p:cNvPr>
          <p:cNvSpPr/>
          <p:nvPr/>
        </p:nvSpPr>
        <p:spPr>
          <a:xfrm>
            <a:off x="621792" y="84124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Demokratie</a:t>
            </a:r>
            <a:r>
              <a:rPr lang="en-US" sz="36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-Ranking der Kantone</a:t>
            </a:r>
            <a:endParaRPr lang="en-US" sz="3600" dirty="0"/>
          </a:p>
        </p:txBody>
      </p:sp>
      <p:pic>
        <p:nvPicPr>
          <p:cNvPr id="51" name="Grafik 50">
            <a:extLst>
              <a:ext uri="{FF2B5EF4-FFF2-40B4-BE49-F238E27FC236}">
                <a16:creationId xmlns:a16="http://schemas.microsoft.com/office/drawing/2014/main" id="{A1F3BEFB-D5C8-DF36-42BA-5135B585C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283" y="1763922"/>
            <a:ext cx="5557620" cy="3672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75E6946A-6003-13A4-F0FF-E20021AB45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1763923"/>
            <a:ext cx="5483721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350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856232" cy="329184"/>
          </a:xfrm>
          <a:prstGeom prst="roundRect">
            <a:avLst>
              <a:gd name="adj" fmla="val 16667"/>
            </a:avLst>
          </a:prstGeom>
          <a:solidFill>
            <a:srgbClr val="FCE7F3"/>
          </a:solidFill>
          <a:ln w="1905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EC489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 · FUN MODE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Sport Mode!</a:t>
            </a:r>
            <a:endParaRPr lang="en-US" sz="4000" dirty="0"/>
          </a:p>
        </p:txBody>
      </p:sp>
      <p:pic>
        <p:nvPicPr>
          <p:cNvPr id="6" name="Bildschirmaufnahme 2026-05-29 um 15.40.45.mp4">
            <a:hlinkClick r:id="" action="ppaction://media"/>
            <a:extLst>
              <a:ext uri="{FF2B5EF4-FFF2-40B4-BE49-F238E27FC236}">
                <a16:creationId xmlns:a16="http://schemas.microsoft.com/office/drawing/2014/main" id="{62E82632-90A1-D3FF-03AD-AF4A9AED25D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713378" y="1590215"/>
            <a:ext cx="8735082" cy="51671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24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1905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E306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 · TECHNIK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Wie es gebaut ist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49240" cy="1920240"/>
          </a:xfrm>
          <a:prstGeom prst="roundRect">
            <a:avLst>
              <a:gd name="adj" fmla="val 6190"/>
            </a:avLst>
          </a:prstGeom>
          <a:solidFill>
            <a:srgbClr val="FFFFFF"/>
          </a:solidFill>
          <a:ln w="31750">
            <a:solidFill>
              <a:srgbClr val="0F172A"/>
            </a:solidFill>
            <a:prstDash val="solid"/>
          </a:ln>
          <a:effectLst>
            <a:outerShdw blurRad="101600" dist="6350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6" name="Shape 4"/>
          <p:cNvSpPr/>
          <p:nvPr/>
        </p:nvSpPr>
        <p:spPr>
          <a:xfrm>
            <a:off x="1005840" y="2258568"/>
            <a:ext cx="777240" cy="77724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8" name="Text 5"/>
          <p:cNvSpPr/>
          <p:nvPr/>
        </p:nvSpPr>
        <p:spPr>
          <a:xfrm>
            <a:off x="2011680" y="225856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D3.js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011680" y="274320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Interaktive Visualisierungen im Browser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172200" y="1874520"/>
            <a:ext cx="5349240" cy="1920240"/>
          </a:xfrm>
          <a:prstGeom prst="roundRect">
            <a:avLst>
              <a:gd name="adj" fmla="val 6190"/>
            </a:avLst>
          </a:prstGeom>
          <a:solidFill>
            <a:srgbClr val="FFFFFF"/>
          </a:solidFill>
          <a:ln w="31750">
            <a:solidFill>
              <a:srgbClr val="0F172A"/>
            </a:solidFill>
            <a:prstDash val="solid"/>
          </a:ln>
          <a:effectLst>
            <a:outerShdw blurRad="101600" dist="6350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1" name="Shape 8"/>
          <p:cNvSpPr/>
          <p:nvPr/>
        </p:nvSpPr>
        <p:spPr>
          <a:xfrm>
            <a:off x="6537960" y="2258568"/>
            <a:ext cx="777240" cy="777240"/>
          </a:xfrm>
          <a:prstGeom prst="ellipse">
            <a:avLst/>
          </a:prstGeom>
          <a:solidFill>
            <a:srgbClr val="FEE2E2"/>
          </a:solidFill>
          <a:ln w="2540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3" name="Text 9"/>
          <p:cNvSpPr/>
          <p:nvPr/>
        </p:nvSpPr>
        <p:spPr>
          <a:xfrm>
            <a:off x="7543800" y="225856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SPARQL Queries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543800" y="274320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Abfragen über Linked Open Data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40080" y="4023360"/>
            <a:ext cx="5349240" cy="1920240"/>
          </a:xfrm>
          <a:prstGeom prst="roundRect">
            <a:avLst>
              <a:gd name="adj" fmla="val 6190"/>
            </a:avLst>
          </a:prstGeom>
          <a:solidFill>
            <a:srgbClr val="FFFFFF"/>
          </a:solidFill>
          <a:ln w="31750">
            <a:solidFill>
              <a:srgbClr val="0F172A"/>
            </a:solidFill>
            <a:prstDash val="solid"/>
          </a:ln>
          <a:effectLst>
            <a:outerShdw blurRad="101600" dist="6350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6" name="Shape 12"/>
          <p:cNvSpPr/>
          <p:nvPr/>
        </p:nvSpPr>
        <p:spPr>
          <a:xfrm>
            <a:off x="1005840" y="4407408"/>
            <a:ext cx="777240" cy="77724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8" name="Text 13"/>
          <p:cNvSpPr/>
          <p:nvPr/>
        </p:nvSpPr>
        <p:spPr>
          <a:xfrm>
            <a:off x="2011680" y="440740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Open Government Data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2011680" y="489204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Quelle: Schweizer Bundeskanzlei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6172200" y="4023360"/>
            <a:ext cx="5349240" cy="1920240"/>
          </a:xfrm>
          <a:prstGeom prst="roundRect">
            <a:avLst>
              <a:gd name="adj" fmla="val 6190"/>
            </a:avLst>
          </a:prstGeom>
          <a:solidFill>
            <a:srgbClr val="FFFFFF"/>
          </a:solidFill>
          <a:ln w="31750">
            <a:solidFill>
              <a:srgbClr val="0F172A"/>
            </a:solidFill>
            <a:prstDash val="solid"/>
          </a:ln>
          <a:effectLst>
            <a:outerShdw blurRad="101600" dist="6350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1" name="Shape 16"/>
          <p:cNvSpPr/>
          <p:nvPr/>
        </p:nvSpPr>
        <p:spPr>
          <a:xfrm>
            <a:off x="6537960" y="4407408"/>
            <a:ext cx="777240" cy="777240"/>
          </a:xfrm>
          <a:prstGeom prst="ellipse">
            <a:avLst/>
          </a:prstGeom>
          <a:solidFill>
            <a:srgbClr val="FEE2E2"/>
          </a:solidFill>
          <a:ln w="2540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3" name="Text 17"/>
          <p:cNvSpPr/>
          <p:nvPr/>
        </p:nvSpPr>
        <p:spPr>
          <a:xfrm>
            <a:off x="7543800" y="440740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Text-to-Speech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7543800" y="489204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Kommentator-Stimme </a:t>
            </a:r>
            <a:r>
              <a:rPr lang="en-US" sz="1600" dirty="0" err="1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im</a:t>
            </a:r>
            <a:r>
              <a:rPr lang="en-US" sz="1600" dirty="0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Sport Mode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6053328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de-CH" dirty="0"/>
          </a:p>
        </p:txBody>
      </p:sp>
      <p:sp>
        <p:nvSpPr>
          <p:cNvPr id="26" name="Text 20"/>
          <p:cNvSpPr/>
          <p:nvPr/>
        </p:nvSpPr>
        <p:spPr>
          <a:xfrm>
            <a:off x="640080" y="605332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Entwicklung:  </a:t>
            </a: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iterativ</a:t>
            </a:r>
            <a:r>
              <a:rPr lang="en-US" sz="15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+  </a:t>
            </a:r>
            <a:r>
              <a:rPr lang="en-US" sz="1500" b="1" dirty="0">
                <a:solidFill>
                  <a:srgbClr val="D4AF3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vibe coding </a:t>
            </a:r>
            <a:r>
              <a:rPr lang="en-US" sz="15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 </a:t>
            </a: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fun</a:t>
            </a:r>
            <a:endParaRPr lang="en-US" sz="1500" dirty="0"/>
          </a:p>
        </p:txBody>
      </p:sp>
      <p:pic>
        <p:nvPicPr>
          <p:cNvPr id="33" name="Grafik 32">
            <a:extLst>
              <a:ext uri="{FF2B5EF4-FFF2-40B4-BE49-F238E27FC236}">
                <a16:creationId xmlns:a16="http://schemas.microsoft.com/office/drawing/2014/main" id="{0209FD5E-99D2-FB11-3220-E3995E244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961" y="2434689"/>
            <a:ext cx="424998" cy="424998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E74B38AF-AF51-31F6-93FF-123114551B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9849" y="2400457"/>
            <a:ext cx="493461" cy="493461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63521094-CD33-0B9D-8B1E-34E505A184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537960" y="4407408"/>
            <a:ext cx="777240" cy="777240"/>
          </a:xfrm>
          <a:prstGeom prst="rect">
            <a:avLst/>
          </a:prstGeom>
        </p:spPr>
      </p:pic>
      <p:pic>
        <p:nvPicPr>
          <p:cNvPr id="1040" name="Picture 16" descr="opendata.swiss · GitHub">
            <a:extLst>
              <a:ext uri="{FF2B5EF4-FFF2-40B4-BE49-F238E27FC236}">
                <a16:creationId xmlns:a16="http://schemas.microsoft.com/office/drawing/2014/main" id="{7A1E2311-D348-62BF-60C1-4DA5C5EDD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568" y="4517136"/>
            <a:ext cx="557784" cy="557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856232" cy="329184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1905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E306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06 · INSIGHTS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8412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Trends, </a:t>
            </a:r>
            <a:r>
              <a:rPr lang="en-US" sz="3800" b="1" dirty="0" err="1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Einblicke</a:t>
            </a:r>
            <a:r>
              <a:rPr lang="en-US" sz="38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und Fun Facts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657600" cy="4343400"/>
          </a:xfrm>
          <a:prstGeom prst="roundRect">
            <a:avLst>
              <a:gd name="adj" fmla="val 3250"/>
            </a:avLst>
          </a:prstGeom>
          <a:solidFill>
            <a:srgbClr val="FEE2E2"/>
          </a:solidFill>
          <a:ln w="31750">
            <a:solidFill>
              <a:srgbClr val="0F172A"/>
            </a:solidFill>
            <a:prstDash val="solid"/>
          </a:ln>
          <a:effectLst>
            <a:outerShdw blurRad="101600" dist="6350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BASEL-STADT · 1937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E306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99.8%</a:t>
            </a:r>
            <a:endParaRPr lang="en-US" sz="76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Bei der Freimaurer-Initiative 1937 war die Beteiligung landesweit </a:t>
            </a:r>
            <a:r>
              <a:rPr lang="en-US" sz="1600" dirty="0" err="1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extrem</a:t>
            </a:r>
            <a:r>
              <a:rPr lang="en-US" sz="1600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  <a:r>
              <a:rPr lang="en-US" sz="1600" dirty="0" err="1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hoch</a:t>
            </a:r>
            <a:r>
              <a:rPr lang="en-US" sz="1600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; Basel-Stadt erreichte fast 100 Prozent.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" y="5349240"/>
            <a:ext cx="310896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868680" y="5349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306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Spitzenwert im ganzen Datensatz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26280" y="1783080"/>
            <a:ext cx="3429000" cy="2148840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31750">
            <a:solidFill>
              <a:srgbClr val="0F172A"/>
            </a:solidFill>
            <a:prstDash val="solid"/>
          </a:ln>
          <a:effectLst>
            <a:outerShdw blurRad="101600" dist="6350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2" name="Shape 10"/>
          <p:cNvSpPr/>
          <p:nvPr/>
        </p:nvSpPr>
        <p:spPr>
          <a:xfrm>
            <a:off x="4800600" y="2075688"/>
            <a:ext cx="566928" cy="566928"/>
          </a:xfrm>
          <a:prstGeom prst="ellipse">
            <a:avLst/>
          </a:prstGeom>
          <a:solidFill>
            <a:srgbClr val="F8FAFC"/>
          </a:solidFill>
          <a:ln w="2540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4" name="Text 11"/>
          <p:cNvSpPr/>
          <p:nvPr/>
        </p:nvSpPr>
        <p:spPr>
          <a:xfrm>
            <a:off x="5486400" y="207568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Schaffhausen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818888" y="2770632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Konstant </a:t>
            </a:r>
            <a:r>
              <a:rPr lang="en-US" sz="1600" dirty="0" err="1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zuoberst</a:t>
            </a:r>
            <a:r>
              <a:rPr lang="en-US" sz="1600" dirty="0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eine Busse bei Nicht-Teilnahme treibt die Beteiligung bis heute.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092440" y="1783080"/>
            <a:ext cx="3429000" cy="2148840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31750">
            <a:solidFill>
              <a:srgbClr val="0F172A"/>
            </a:solidFill>
            <a:prstDash val="solid"/>
          </a:ln>
          <a:effectLst>
            <a:outerShdw blurRad="101600" dist="6350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7" name="Shape 14"/>
          <p:cNvSpPr/>
          <p:nvPr/>
        </p:nvSpPr>
        <p:spPr>
          <a:xfrm>
            <a:off x="8366760" y="2075688"/>
            <a:ext cx="566928" cy="566928"/>
          </a:xfrm>
          <a:prstGeom prst="ellipse">
            <a:avLst/>
          </a:prstGeom>
          <a:solidFill>
            <a:srgbClr val="F8FAFC"/>
          </a:solidFill>
          <a:ln w="2540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9" name="Text 15"/>
          <p:cNvSpPr/>
          <p:nvPr/>
        </p:nvSpPr>
        <p:spPr>
          <a:xfrm>
            <a:off x="9052560" y="207568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Aargau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8385048" y="2770632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Bis in die 1970er an der Spitze, danach starker Rückgang.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4526280" y="4069080"/>
            <a:ext cx="3429000" cy="2148840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31750">
            <a:solidFill>
              <a:srgbClr val="0F172A"/>
            </a:solidFill>
            <a:prstDash val="solid"/>
          </a:ln>
          <a:effectLst>
            <a:outerShdw blurRad="101600" dist="6350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2" name="Shape 18"/>
          <p:cNvSpPr/>
          <p:nvPr/>
        </p:nvSpPr>
        <p:spPr>
          <a:xfrm>
            <a:off x="4800600" y="4361688"/>
            <a:ext cx="566928" cy="566928"/>
          </a:xfrm>
          <a:prstGeom prst="ellipse">
            <a:avLst/>
          </a:prstGeom>
          <a:solidFill>
            <a:srgbClr val="F8FAFC"/>
          </a:solidFill>
          <a:ln w="2540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4" name="Text 19"/>
          <p:cNvSpPr/>
          <p:nvPr/>
        </p:nvSpPr>
        <p:spPr>
          <a:xfrm>
            <a:off x="5486400" y="436168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1980er-Jahre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4818888" y="5056632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 den meisten Kantonen nimmt die Beteiligung deutlich ab.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8092440" y="4069080"/>
            <a:ext cx="3429000" cy="2148840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31750">
            <a:solidFill>
              <a:srgbClr val="0F172A"/>
            </a:solidFill>
            <a:prstDash val="solid"/>
          </a:ln>
          <a:effectLst>
            <a:outerShdw blurRad="101600" dist="6350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 sz="1600"/>
          </a:p>
        </p:txBody>
      </p:sp>
      <p:sp>
        <p:nvSpPr>
          <p:cNvPr id="27" name="Shape 22"/>
          <p:cNvSpPr/>
          <p:nvPr/>
        </p:nvSpPr>
        <p:spPr>
          <a:xfrm>
            <a:off x="8366760" y="4361688"/>
            <a:ext cx="566928" cy="566928"/>
          </a:xfrm>
          <a:prstGeom prst="ellipse">
            <a:avLst/>
          </a:prstGeom>
          <a:solidFill>
            <a:srgbClr val="F8FAFC"/>
          </a:solidFill>
          <a:ln w="2540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9" name="Text 23"/>
          <p:cNvSpPr/>
          <p:nvPr/>
        </p:nvSpPr>
        <p:spPr>
          <a:xfrm>
            <a:off x="9052560" y="436168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Stand </a:t>
            </a:r>
            <a:r>
              <a:rPr lang="en-US" sz="1700" b="1" dirty="0" err="1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heute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8385048" y="5056632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 err="1">
                <a:latin typeface="Plus Jakarta Sans" pitchFamily="34" charset="0"/>
                <a:ea typeface="Plus Jakarta Sans" pitchFamily="34" charset="-122"/>
              </a:rPr>
              <a:t>Aktuell</a:t>
            </a:r>
            <a:r>
              <a:rPr lang="en-US" sz="1600" dirty="0">
                <a:latin typeface="Plus Jakarta Sans" pitchFamily="34" charset="0"/>
                <a:ea typeface="Plus Jakarta Sans" pitchFamily="34" charset="-122"/>
              </a:rPr>
              <a:t> </a:t>
            </a:r>
            <a:r>
              <a:rPr lang="en-US" sz="1600" dirty="0" err="1">
                <a:latin typeface="Plus Jakarta Sans" pitchFamily="34" charset="0"/>
                <a:ea typeface="Plus Jakarta Sans" pitchFamily="34" charset="-122"/>
              </a:rPr>
              <a:t>liegt</a:t>
            </a:r>
            <a:r>
              <a:rPr lang="en-US" sz="1600" dirty="0">
                <a:latin typeface="Plus Jakarta Sans" pitchFamily="34" charset="0"/>
                <a:ea typeface="Plus Jakarta Sans" pitchFamily="34" charset="-122"/>
              </a:rPr>
              <a:t> die </a:t>
            </a:r>
            <a:r>
              <a:rPr lang="en-US" sz="1600" dirty="0" err="1">
                <a:latin typeface="Plus Jakarta Sans" pitchFamily="34" charset="0"/>
                <a:ea typeface="Plus Jakarta Sans" pitchFamily="34" charset="-122"/>
              </a:rPr>
              <a:t>Stimmbeteiligung</a:t>
            </a:r>
            <a:r>
              <a:rPr lang="en-US" sz="1600" dirty="0">
                <a:latin typeface="Plus Jakarta Sans" pitchFamily="34" charset="0"/>
                <a:ea typeface="Plus Jakarta Sans" pitchFamily="34" charset="-122"/>
              </a:rPr>
              <a:t> </a:t>
            </a:r>
            <a:r>
              <a:rPr lang="en-US" sz="1600" dirty="0" err="1">
                <a:latin typeface="Plus Jakarta Sans" pitchFamily="34" charset="0"/>
                <a:ea typeface="Plus Jakarta Sans" pitchFamily="34" charset="-122"/>
              </a:rPr>
              <a:t>historisch</a:t>
            </a:r>
            <a:r>
              <a:rPr lang="en-US" sz="1600" dirty="0">
                <a:latin typeface="Plus Jakarta Sans" pitchFamily="34" charset="0"/>
                <a:ea typeface="Plus Jakarta Sans" pitchFamily="34" charset="-122"/>
              </a:rPr>
              <a:t> </a:t>
            </a:r>
            <a:r>
              <a:rPr lang="en-US" sz="1600" dirty="0" err="1">
                <a:latin typeface="Plus Jakarta Sans" pitchFamily="34" charset="0"/>
                <a:ea typeface="Plus Jakarta Sans" pitchFamily="34" charset="-122"/>
              </a:rPr>
              <a:t>gesehen</a:t>
            </a:r>
            <a:r>
              <a:rPr lang="en-US" sz="1600" dirty="0">
                <a:latin typeface="Plus Jakarta Sans" pitchFamily="34" charset="0"/>
                <a:ea typeface="Plus Jakarta Sans" pitchFamily="34" charset="-122"/>
              </a:rPr>
              <a:t> </a:t>
            </a:r>
            <a:r>
              <a:rPr lang="en-US" sz="1600" dirty="0" err="1">
                <a:latin typeface="Plus Jakarta Sans" pitchFamily="34" charset="0"/>
                <a:ea typeface="Plus Jakarta Sans" pitchFamily="34" charset="-122"/>
              </a:rPr>
              <a:t>sehr</a:t>
            </a:r>
            <a:r>
              <a:rPr lang="en-US" sz="1600" dirty="0">
                <a:latin typeface="Plus Jakarta Sans" pitchFamily="34" charset="0"/>
                <a:ea typeface="Plus Jakarta Sans" pitchFamily="34" charset="-122"/>
              </a:rPr>
              <a:t> </a:t>
            </a:r>
            <a:r>
              <a:rPr lang="en-US" sz="1600" dirty="0" err="1">
                <a:latin typeface="Plus Jakarta Sans" pitchFamily="34" charset="0"/>
                <a:ea typeface="Plus Jakarta Sans" pitchFamily="34" charset="-122"/>
              </a:rPr>
              <a:t>tief</a:t>
            </a:r>
            <a:r>
              <a:rPr lang="en-US" sz="1600" dirty="0">
                <a:latin typeface="Plus Jakarta Sans" pitchFamily="34" charset="0"/>
                <a:ea typeface="Plus Jakarta Sans" pitchFamily="34" charset="-122"/>
              </a:rPr>
              <a:t>.</a:t>
            </a:r>
            <a:endParaRPr lang="en-US" sz="16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9D9BD04-62AD-95A4-1077-D1FAC50D0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9058" y="2165667"/>
            <a:ext cx="318443" cy="386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AC9C272C-5DA8-D8D1-7D78-EEED515C8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7463" y="2165666"/>
            <a:ext cx="331688" cy="401169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ED0C419D-EAFC-236D-A395-F345044C0E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2906" y="4468682"/>
            <a:ext cx="352908" cy="391140"/>
          </a:xfrm>
          <a:prstGeom prst="rect">
            <a:avLst/>
          </a:prstGeom>
        </p:spPr>
      </p:pic>
      <p:pic>
        <p:nvPicPr>
          <p:cNvPr id="2054" name="Picture 6" descr="80er jahre - Kostenlose formen und symbole-Icons">
            <a:extLst>
              <a:ext uri="{FF2B5EF4-FFF2-40B4-BE49-F238E27FC236}">
                <a16:creationId xmlns:a16="http://schemas.microsoft.com/office/drawing/2014/main" id="{D6401848-8269-3C0F-2F3D-C6FA7779D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9261" y="4482995"/>
            <a:ext cx="345706" cy="345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</Words>
  <Application>Microsoft Macintosh PowerPoint</Application>
  <PresentationFormat>Benutzerdefiniert</PresentationFormat>
  <Paragraphs>75</Paragraphs>
  <Slides>8</Slides>
  <Notes>8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1" baseType="lpstr">
      <vt:lpstr>Arial</vt:lpstr>
      <vt:lpstr>Plus Jakarta Sans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Democracy Race — Hackathon Pitch</dc:title>
  <dc:subject>PptxGenJS Presentation</dc:subject>
  <dc:creator>Democracy Race Team</dc:creator>
  <cp:lastModifiedBy>Lukas Erni</cp:lastModifiedBy>
  <cp:revision>17</cp:revision>
  <dcterms:created xsi:type="dcterms:W3CDTF">2026-05-29T12:04:20Z</dcterms:created>
  <dcterms:modified xsi:type="dcterms:W3CDTF">2026-05-29T13:57:04Z</dcterms:modified>
</cp:coreProperties>
</file>